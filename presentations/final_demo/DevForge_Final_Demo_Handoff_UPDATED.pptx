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DAAA44"/>
                </a:solidFill>
                <a:latin typeface="Aptos"/>
              </a:defRPr>
            </a:pPr>
            <a:r>
              <a:t>DEVFORGE  /  FINAL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F8F9FC"/>
                </a:solidFill>
                <a:latin typeface="Aptos"/>
              </a:defRPr>
            </a:pPr>
            <a:r>
              <a:t>Uni Child International School Website and Student Information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C0CAD8"/>
                </a:solidFill>
                <a:latin typeface="Aptos"/>
              </a:defRPr>
            </a:pPr>
            <a:r>
              <a:t>Team DevForge — Final Demo and Handoff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75304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C0CAD8"/>
                </a:solidFill>
                <a:latin typeface="Aptos"/>
              </a:defRPr>
            </a:pPr>
            <a:r>
              <a:t>Course: DCIT 208 — 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78808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C0CAD8"/>
                </a:solidFill>
                <a:latin typeface="Aptos"/>
              </a:defRPr>
            </a:pPr>
            <a:r>
              <a:t>Frontend: https://zealous-flower-03357b203.4.azurestaticapps.net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C0CAD8"/>
                </a:solidFill>
                <a:latin typeface="Aptos"/>
              </a:defRPr>
            </a:pPr>
            <a:r>
              <a:t>Backend health: https://unichildinternationalschoolbackend-bfg4hwd8fpduavgp.westus3-01.azurewebsites.net/api/health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02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Problem and Project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School information and administrative records need to be accessible and organised.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Manual processes can make information retrieval and communication more difficult.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Parents and guardians need clear information about the school and admissions.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Administrators and teachers need appropriate tools for student-related information.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03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Provide an online platform for Uni Child International School.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Present school information, academics, admissions, news, events and gallery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Support student information management and role-based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Provide a foundation for managing results, fees and school communications.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24528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Demonstrate a deployable web application with a separate backend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04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Requirements and Project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8F9FC"/>
                </a:solidFill>
                <a:latin typeface="Aptos"/>
              </a:defRPr>
            </a:pPr>
            <a:r>
              <a:t>Functional requirements: public visitors browse school information; administrators, teachers and students use designated interfaces; backend routes support authentication, student records, results, fees and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87168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8F9FC"/>
                </a:solidFill>
                <a:latin typeface="Aptos"/>
              </a:defRPr>
            </a:pPr>
            <a:r>
              <a:t>Scope: public website, school information pages, student-management interfaces, backend API, and student/teacher portal interfaces.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5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36975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Results, fees and communication features are in scope where implemented and operational.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5876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58768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8F9FC"/>
                </a:solidFill>
                <a:latin typeface="Aptos"/>
              </a:defRPr>
            </a:pPr>
            <a:r>
              <a:t>Verification note: demonstrate only workflows that work in the current environment. Do not present unverified features as fully operational.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05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Intended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Administrator — manage student records and relevant school information; perform authorised administrative activities.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Teacher — access relevant teaching functions and student-related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Student — access the student portal and relevant academic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Public visitor — browse school information and admissions-related content.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06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Public school website and navigation.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About, academics and admissions pages.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News, events and gallery pages.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Student management dashboard and student/teacher portal interfaces.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24528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Backend API routes for authentication, students, teachers, results, fees, content, events, documents, gallery and enquiries.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743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Demonstration note: show only workflows that can be demonstrated successfully.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07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Technology and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Frontend: HTML, CSS and JavaScript.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Backend: Node.js, Express.js and REST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Data layer: PostgreSQL and Sequelize 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Hosting: Azure Static Web Apps (frontend) and Azure App Service (backend).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24528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Delivery: GitHub repository and GitHub Actions deployment workflows.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84632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Architecture: Browser → Frontend website → Backend REST API → Database.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08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Example User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Workflow 1 — Public visitor: open the website; navigate school information and academics; open admissions or contact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87168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8F9FC"/>
                </a:solidFill>
                <a:latin typeface="Aptos"/>
              </a:defRPr>
            </a:pPr>
            <a:r>
              <a:t>Workflow 2 — Student administration: open administrator dashboard; view student directory; demonstrate registration or record management if operational.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5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36975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8F9FC"/>
                </a:solidFill>
                <a:latin typeface="Aptos"/>
              </a:defRPr>
            </a:pPr>
            <a:r>
              <a:t>Workflow 3 — Student/teacher access: open the appropriate portal; authenticate with an authorised test account; show relevant functionality if operational.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86783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986783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Use authorised test accounts and avoid displaying real student personal information.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09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Deployment and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Frontend URL: https://zealous-flower-03357b203.4.azurestaticapps.net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Backend health endpoint returned {"status":"Server is running"} during the deployment check.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GitHub Actions deployment workflows are configured for the frontend and backend.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A successful deployment workflow does not prove every application feature works correctly.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24528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Final verification of API integration and user workflows remains necessary.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10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Security and Privacy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Backend authentication uses JSON Web Tokens (JWT).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Role-based authorisation is implemented through backend middleware.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Helmet adds HTTP security headers; rate limiting is configured for API requests and login attempts.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Cross-origin requests are controlled through configured CORS origins.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24528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Student information and credentials should only be accessed by authorised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84632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Store deployment secrets securely in hosting settings or GitHub Secrets, never in the repository.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6811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46811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Effectiveness of these controls still requires appropriate verification.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11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Testing and Quality Assurance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8F9FC"/>
                </a:solidFill>
                <a:latin typeface="Aptos"/>
              </a:defRPr>
            </a:pPr>
            <a:r>
              <a:t>Evidence obtained: deployed frontend loaded; backend health endpoint responded; frontend and backend deployment workflow evidence was available in GitHub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87168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8F9FC"/>
                </a:solidFill>
                <a:latin typeface="Aptos"/>
              </a:defRPr>
            </a:pPr>
            <a:r>
              <a:t>Outstanding checks: authentication and permissions; student registration and updates; results and fees; validation and error handling; mobile layout and accessibility; API integration and database-backed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5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36975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Formal end-to-end QA has not yet been completed.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5876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58768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Automated backend tests have not been established in the supplied project package.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0559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480559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No unperformed test should be reported as passed.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12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Sprint Progress and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Developed the public-facing school website and portal interfaces.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Established a separate backend API and database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Configured cloud hosting and deployment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Updated frontend API configuration to point to the deployed backend.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24528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Prepared user, deployment and client handoff documentation.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84632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Confirm reported activities against actual commits, pull requests and project-board records.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13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AI Use and Academic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AI tools may support brainstorming, explanations, drafting and development assistance.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Significant AI use must be recorded in project AI-use documentation.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Team members are responsible for checking generated content and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Team members should be able to explain their contributions and engineering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24528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AI usage log and acknowledgements must reflect actual use and genuine verification.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84632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References: AI_USAGE.md and AI_USAGE_LOG.md.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14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Known Limitations and Future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Formal end-to-end QA remains outstanding.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Automated backend tests have not been established in the supplied project package.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Database backup, recovery and rollback procedures require practical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02736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Client acceptance and feedback have not been documented as confirmed.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24528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Some application workflows may require further verification or improvement.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84632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Prioritise future improvements using test results and stakeholder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15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Handoff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Handoff documentation prepared: User Manual; Deployment and Operations Guide; Client Handoff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F8F9FC"/>
                </a:solidFill>
                <a:latin typeface="Aptos"/>
              </a:defRPr>
            </a:pPr>
            <a:r>
              <a:t>Next steps: complete and record QA; verify deployed workflows and API integration; capture genuine screenshots; document client feedback where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089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Confirm the release tag and repository evidence; upload the unlisted demo video; add the actual URL to youtube_links.md.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307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7307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Follow the operations guide for configuration, troubleshooting, backup and recovery planning.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525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3525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Procedures that have not been tested must remain identified as unverified.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16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Project Evidence and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16 / 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664208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1">
                <a:solidFill>
                  <a:srgbClr val="E1B85C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1664208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>
                <a:solidFill>
                  <a:srgbClr val="F2F4F8"/>
                </a:solidFill>
                <a:latin typeface="Aptos"/>
              </a:defRPr>
            </a:pPr>
            <a:r>
              <a:t>https://github.com/niipascal51-tech/unichild-international-school_webproject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176272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1">
                <a:solidFill>
                  <a:srgbClr val="E1B85C"/>
                </a:solidFill>
                <a:latin typeface="Aptos"/>
              </a:defRPr>
            </a:pPr>
            <a:r>
              <a:t>Main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176272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>
                <a:solidFill>
                  <a:srgbClr val="F2F4F8"/>
                </a:solidFill>
                <a:latin typeface="Aptos"/>
              </a:defRPr>
            </a:pPr>
            <a:r>
              <a:t>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688336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1">
                <a:solidFill>
                  <a:srgbClr val="E1B85C"/>
                </a:solidFill>
                <a:latin typeface="Aptos"/>
              </a:defRPr>
            </a:pPr>
            <a:r>
              <a:t>D9 release tag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2688336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>
                <a:solidFill>
                  <a:srgbClr val="F2F4F8"/>
                </a:solidFill>
                <a:latin typeface="Aptos"/>
              </a:defRPr>
            </a:pPr>
            <a:r>
              <a:t>v1.0-demo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200400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1">
                <a:solidFill>
                  <a:srgbClr val="E1B85C"/>
                </a:solidFill>
                <a:latin typeface="Aptos"/>
              </a:defRPr>
            </a:pPr>
            <a:r>
              <a:t>Tagged 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200400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>
                <a:solidFill>
                  <a:srgbClr val="F2F4F8"/>
                </a:solidFill>
                <a:latin typeface="Aptos"/>
              </a:defRPr>
            </a:pPr>
            <a:r>
              <a:t>93012d5 — docs: prepare D9 final demo and handoff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712464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1">
                <a:solidFill>
                  <a:srgbClr val="E1B85C"/>
                </a:solidFill>
                <a:latin typeface="Aptos"/>
              </a:defRPr>
            </a:pPr>
            <a:r>
              <a:t>Release tag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712464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050">
                <a:solidFill>
                  <a:srgbClr val="F2F4F8"/>
                </a:solidFill>
                <a:latin typeface="Aptos"/>
              </a:defRPr>
            </a:pPr>
            <a:r>
              <a:t>https://github.com/niipascal51-tech/unichild-international-school_webproject/tree/v1.0-demo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224528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1">
                <a:solidFill>
                  <a:srgbClr val="E1B85C"/>
                </a:solidFill>
                <a:latin typeface="Aptos"/>
              </a:defRPr>
            </a:pPr>
            <a:r>
              <a:t>Deployed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224528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>
                <a:solidFill>
                  <a:srgbClr val="F2F4F8"/>
                </a:solidFill>
                <a:latin typeface="Aptos"/>
              </a:defRPr>
            </a:pPr>
            <a:r>
              <a:t>https://zealous-flower-03357b203.4.azurestaticapps.net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736592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1">
                <a:solidFill>
                  <a:srgbClr val="E1B85C"/>
                </a:solidFill>
                <a:latin typeface="Aptos"/>
              </a:defRPr>
            </a:pPr>
            <a:r>
              <a:t>Backend 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736592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050">
                <a:solidFill>
                  <a:srgbClr val="F2F4F8"/>
                </a:solidFill>
                <a:latin typeface="Aptos"/>
              </a:defRPr>
            </a:pPr>
            <a:r>
              <a:t>https://unichildinternationalschoolbackend-bfg4hwd8fpduavgp.westus3-01.azurewebsites.net/api/health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248656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1">
                <a:solidFill>
                  <a:srgbClr val="E1B85C"/>
                </a:solidFill>
                <a:latin typeface="Aptos"/>
              </a:defRPr>
            </a:pPr>
            <a:r>
              <a:t>Demo 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248656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>
                <a:solidFill>
                  <a:srgbClr val="F2F4F8"/>
                </a:solidFill>
                <a:latin typeface="Aptos"/>
              </a:defRPr>
            </a:pPr>
            <a:r>
              <a:t>Pending: add the unlisted YouTube URL after upload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60720"/>
            <a:ext cx="135331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1">
                <a:solidFill>
                  <a:srgbClr val="E1B85C"/>
                </a:solidFill>
                <a:latin typeface="Aptos"/>
              </a:defRPr>
            </a:pPr>
            <a:r>
              <a:t>Project 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5760720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>
                <a:solidFill>
                  <a:srgbClr val="F2F4F8"/>
                </a:solidFill>
                <a:latin typeface="Aptos"/>
              </a:defRPr>
            </a:pPr>
            <a:r>
              <a:t>Pending: add the team's actual project board URL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5029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DAAA44"/>
                </a:solidFill>
                <a:latin typeface="Aptos"/>
              </a:defRPr>
            </a:pPr>
            <a:r>
              <a:t>17  /  DEVFORGE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8F9FC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914400" cy="50292"/>
          </a:xfrm>
          <a:prstGeom prst="rect">
            <a:avLst/>
          </a:prstGeom>
          <a:solidFill>
            <a:srgbClr val="3C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The project provides an online school website and a foundation for student information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The frontend is deployed and the backend health endpoint responded successfully.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03784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Complete workflow verification, final handoff evidence and transparent documentation of limitations remain important next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30752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730752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Team DevForge • DCIT 208 — Software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52544"/>
            <a:ext cx="228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DAAA4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352544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8F9FC"/>
                </a:solidFill>
                <a:latin typeface="Aptos"/>
              </a:defRPr>
            </a:pPr>
            <a:r>
              <a:t>Thank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C0CAD8"/>
                </a:solidFill>
                <a:latin typeface="Aptos"/>
              </a:defRPr>
            </a:pPr>
            <a:r>
              <a:t>UNI CHILD INTERNATIONAL SCHOOL  •  DCIT 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55664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DAAA44"/>
                </a:solidFill>
                <a:latin typeface="Aptos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